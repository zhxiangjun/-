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工程量（人天）</c:v>
                </c:pt>
              </c:strCache>
            </c:strRef>
          </c:tx>
          <c:spPr>
            <a:solidFill>
              <a:srgbClr val="1E5C9E"/>
            </a:solidFill>
          </c:spPr>
          <c:dLbls>
            <c:txPr>
              <a:bodyPr/>
              <a:lstStyle/>
              <a:p>
                <a:pPr>
                  <a:defRPr sz="1200" b="1">
                    <a:solidFill>
                      <a:srgbClr val="142A4C"/>
                    </a:solidFill>
                    <a:latin typeface="微软雅黑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MVP 最小可用
31 项 / 479 人天</c:v>
                </c:pt>
                <c:pt idx="1">
                  <c:v>V1.0 首个商业版
44 项 / 560 人天</c:v>
                </c:pt>
                <c:pt idx="2">
                  <c:v>V2.0 平台化
38 项 / 455 人天</c:v>
                </c:pt>
                <c:pt idx="3">
                  <c:v>V3.0 智能化
18 项 / 211 人天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479</c:v>
                </c:pt>
                <c:pt idx="1">
                  <c:v>560</c:v>
                </c:pt>
                <c:pt idx="2">
                  <c:v>455</c:v>
                </c:pt>
                <c:pt idx="3">
                  <c:v>211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金额（万元）</c:v>
                </c:pt>
              </c:strCache>
            </c:strRef>
          </c:tx>
          <c:spPr>
            <a:solidFill>
              <a:srgbClr val="1E5C9E"/>
            </a:solidFill>
          </c:spPr>
          <c:dPt>
            <c:idx val="0"/>
            <c:spPr>
              <a:solidFill>
                <a:srgbClr val="1E5C9E"/>
              </a:solidFill>
            </c:spPr>
          </c:dPt>
          <c:dPt>
            <c:idx val="1"/>
            <c:spPr>
              <a:solidFill>
                <a:srgbClr val="2E86C1"/>
              </a:solidFill>
            </c:spPr>
          </c:dPt>
          <c:dPt>
            <c:idx val="2"/>
            <c:spPr>
              <a:solidFill>
                <a:srgbClr val="E87A1E"/>
              </a:solidFill>
            </c:spPr>
          </c:dPt>
          <c:dPt>
            <c:idx val="3"/>
            <c:spPr>
              <a:solidFill>
                <a:srgbClr val="F0B27A"/>
              </a:solidFill>
            </c:spPr>
          </c:dPt>
          <c:dLbls>
            <c:numFmt formatCode="0.0&quot;万&quot;" sourceLinked="0"/>
            <c:txPr>
              <a:bodyPr/>
              <a:lstStyle/>
              <a:p>
                <a:pPr>
                  <a:defRPr sz="1100" b="1">
                    <a:latin typeface="微软雅黑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软件与实施
（MVP+V1）</c:v>
                </c:pt>
                <c:pt idx="1">
                  <c:v>MVP 阶段
硬件</c:v>
                </c:pt>
                <c:pt idx="2">
                  <c:v>V1 阶段
硬件</c:v>
                </c:pt>
                <c:pt idx="3">
                  <c:v>V2+V3 阶段
硬件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124.7</c:v>
                </c:pt>
                <c:pt idx="1">
                  <c:v>54.2</c:v>
                </c:pt>
                <c:pt idx="2">
                  <c:v>119.8</c:v>
                </c:pt>
                <c:pt idx="3">
                  <c:v>125.2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微软雅黑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6400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059936" cy="6858000"/>
          </a:xfrm>
          <a:prstGeom prst="rect">
            <a:avLst/>
          </a:prstGeom>
          <a:solidFill>
            <a:srgbClr val="1B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zh-CN">
                <a:solidFill>
                  <a:srgbClr val="9EC5E8"/>
                </a:solidFill>
                <a:latin typeface="微软雅黑"/>
              </a:rPr>
              <a:t>世界职业院校技能大赛 · 人工智能赛道（中职组）参赛项目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lang="zh-CN">
                <a:solidFill>
                  <a:srgbClr val="FFFFFF"/>
                </a:solidFill>
                <a:latin typeface="微软雅黑"/>
              </a:rPr>
              <a:t>“智园卫士”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lang="zh-CN">
                <a:solidFill>
                  <a:srgbClr val="9EC5E8"/>
                </a:solidFill>
                <a:latin typeface="微软雅黑"/>
              </a:rPr>
              <a:t>智慧校园（智慧园区）管理平台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lang="zh-CN">
                <a:solidFill>
                  <a:srgbClr val="E87A1E"/>
                </a:solidFill>
                <a:latin typeface="微软雅黑"/>
              </a:rPr>
              <a:t>一句话定位：</a:t>
            </a:r>
            <a:r>
              <a:rPr sz="1400" b="0" lang="zh-CN">
                <a:solidFill>
                  <a:srgbClr val="FFFFFF"/>
                </a:solidFill>
                <a:latin typeface="微软雅黑"/>
              </a:rPr>
              <a:t>以 AI 视觉为亮点、以业务闭环为核心的校园智慧园区平台</a:t>
            </a:r>
          </a:p>
          <a:p>
            <a:pPr algn="l">
              <a:lnSpc>
                <a:spcPct val="150000"/>
              </a:lnSpc>
            </a:pPr>
            <a:r>
              <a:rPr sz="1400" b="1" lang="zh-CN">
                <a:solidFill>
                  <a:srgbClr val="E87A1E"/>
                </a:solidFill>
                <a:latin typeface="微软雅黑"/>
              </a:rPr>
              <a:t>建设主体：</a:t>
            </a:r>
            <a:r>
              <a:rPr sz="1400" b="0" lang="zh-CN">
                <a:solidFill>
                  <a:srgbClr val="FFFFFF"/>
                </a:solidFill>
                <a:latin typeface="微软雅黑"/>
              </a:rPr>
              <a:t>齐河县职业中等专业学校 ｜ 中等规模中职 3000—6000 人 ｜ 1—2 个校区</a:t>
            </a:r>
          </a:p>
          <a:p>
            <a:pPr algn="l">
              <a:lnSpc>
                <a:spcPct val="150000"/>
              </a:lnSpc>
            </a:pPr>
            <a:r>
              <a:rPr sz="1400" b="1" lang="zh-CN">
                <a:solidFill>
                  <a:srgbClr val="E87A1E"/>
                </a:solidFill>
                <a:latin typeface="微软雅黑"/>
              </a:rPr>
              <a:t>项目性质：</a:t>
            </a:r>
            <a:r>
              <a:rPr sz="1400" b="0" lang="zh-CN">
                <a:solidFill>
                  <a:srgbClr val="FFFFFF"/>
                </a:solidFill>
                <a:latin typeface="微软雅黑"/>
              </a:rPr>
              <a:t>真实校园落地 + 参赛演示 + 可对外复制交付的商业级产品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8A9BB0"/>
                </a:solidFill>
                <a:latin typeface="微软雅黑"/>
              </a:rPr>
              <a:t>2026 年 11 月 ｜ 项目组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lang="zh-CN">
                <a:solidFill>
                  <a:srgbClr val="E87A1E"/>
                </a:solidFill>
                <a:latin typeface="微软雅黑"/>
              </a:rPr>
              <a:t>00  </a:t>
            </a:r>
            <a:r>
              <a:rPr sz="2200" b="1" lang="zh-CN">
                <a:solidFill>
                  <a:srgbClr val="FFFFFF"/>
                </a:solidFill>
                <a:latin typeface="微软雅黑"/>
              </a:rPr>
              <a:t>汇报提纲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555F6D"/>
                </a:solidFill>
                <a:latin typeface="微软雅黑"/>
              </a:rPr>
              <a:t>汇报时长约 20 分钟：问题与定位 4 分钟 ｜ 方案与功能 8 分钟 ｜ 技术亮点 4 分钟 ｜ 规划与合作 4 分钟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53492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658368" cy="8412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7"/>
            <a:ext cx="6583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lang="zh-CN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64207"/>
            <a:ext cx="4389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zh-CN">
                <a:solidFill>
                  <a:srgbClr val="142A4C"/>
                </a:solidFill>
                <a:latin typeface="微软雅黑"/>
              </a:rPr>
              <a:t>我们看到的真问题</a:t>
            </a:r>
          </a:p>
          <a:p>
            <a:pPr algn="l">
              <a:lnSpc>
                <a:spcPct val="115000"/>
              </a:lnSpc>
            </a:pPr>
            <a:r>
              <a:rPr sz="1000" b="0" lang="zh-CN">
                <a:solidFill>
                  <a:srgbClr val="555F6D"/>
                </a:solidFill>
                <a:latin typeface="微软雅黑"/>
              </a:rPr>
              <a:t>校园管理仍靠人海战术，数据不通、留痕困难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3492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658368" cy="8412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64207"/>
            <a:ext cx="6583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lang="zh-CN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64207"/>
            <a:ext cx="4389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zh-CN">
                <a:solidFill>
                  <a:srgbClr val="142A4C"/>
                </a:solidFill>
                <a:latin typeface="微软雅黑"/>
              </a:rPr>
              <a:t>项目定位与差异化</a:t>
            </a:r>
          </a:p>
          <a:p>
            <a:pPr algn="l">
              <a:lnSpc>
                <a:spcPct val="115000"/>
              </a:lnSpc>
            </a:pPr>
            <a:r>
              <a:rPr sz="1000" b="0" lang="zh-CN">
                <a:solidFill>
                  <a:srgbClr val="555F6D"/>
                </a:solidFill>
                <a:latin typeface="微软雅黑"/>
              </a:rPr>
              <a:t>不做设备堆叠，做业务闭环与数据打通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523744"/>
            <a:ext cx="53492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523744"/>
            <a:ext cx="658368" cy="8412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33472"/>
            <a:ext cx="6583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lang="zh-CN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633472"/>
            <a:ext cx="4389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zh-CN">
                <a:solidFill>
                  <a:srgbClr val="142A4C"/>
                </a:solidFill>
                <a:latin typeface="微软雅黑"/>
              </a:rPr>
              <a:t>平台功能架构</a:t>
            </a:r>
          </a:p>
          <a:p>
            <a:pPr algn="l">
              <a:lnSpc>
                <a:spcPct val="115000"/>
              </a:lnSpc>
            </a:pPr>
            <a:r>
              <a:rPr sz="1000" b="0" lang="zh-CN">
                <a:solidFill>
                  <a:srgbClr val="555F6D"/>
                </a:solidFill>
                <a:latin typeface="微软雅黑"/>
              </a:rPr>
              <a:t>12 个模块、131 项功能，覆盖校园管理全场景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523744"/>
            <a:ext cx="53492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523744"/>
            <a:ext cx="658368" cy="8412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633472"/>
            <a:ext cx="6583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lang="zh-CN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633472"/>
            <a:ext cx="4389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zh-CN">
                <a:solidFill>
                  <a:srgbClr val="142A4C"/>
                </a:solidFill>
                <a:latin typeface="微软雅黑"/>
              </a:rPr>
              <a:t>四大核心业务闭环</a:t>
            </a:r>
          </a:p>
          <a:p>
            <a:pPr algn="l">
              <a:lnSpc>
                <a:spcPct val="115000"/>
              </a:lnSpc>
            </a:pPr>
            <a:r>
              <a:rPr sz="1000" b="0" lang="zh-CN">
                <a:solidFill>
                  <a:srgbClr val="555F6D"/>
                </a:solidFill>
                <a:latin typeface="微软雅黑"/>
              </a:rPr>
              <a:t>通行即考勤、请假即放行、预警即派单、归寝有预警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493008"/>
            <a:ext cx="53492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493008"/>
            <a:ext cx="658368" cy="8412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602736"/>
            <a:ext cx="6583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lang="zh-CN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602736"/>
            <a:ext cx="4389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zh-CN">
                <a:solidFill>
                  <a:srgbClr val="142A4C"/>
                </a:solidFill>
                <a:latin typeface="微软雅黑"/>
              </a:rPr>
              <a:t>AI 视觉技术亮点</a:t>
            </a:r>
          </a:p>
          <a:p>
            <a:pPr algn="l">
              <a:lnSpc>
                <a:spcPct val="115000"/>
              </a:lnSpc>
            </a:pPr>
            <a:r>
              <a:rPr sz="1000" b="0" lang="zh-CN">
                <a:solidFill>
                  <a:srgbClr val="555F6D"/>
                </a:solidFill>
                <a:latin typeface="微软雅黑"/>
              </a:rPr>
              <a:t>周界、烟火、聚集、打架等场景的识别与误报抑制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493008"/>
            <a:ext cx="53492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493008"/>
            <a:ext cx="658368" cy="8412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602736"/>
            <a:ext cx="6583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lang="zh-CN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602736"/>
            <a:ext cx="4389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zh-CN">
                <a:solidFill>
                  <a:srgbClr val="142A4C"/>
                </a:solidFill>
                <a:latin typeface="微软雅黑"/>
              </a:rPr>
              <a:t>技术架构与实现路径</a:t>
            </a:r>
          </a:p>
          <a:p>
            <a:pPr algn="l">
              <a:lnSpc>
                <a:spcPct val="115000"/>
              </a:lnSpc>
            </a:pPr>
            <a:r>
              <a:rPr sz="1000" b="0" lang="zh-CN">
                <a:solidFill>
                  <a:srgbClr val="555F6D"/>
                </a:solidFill>
                <a:latin typeface="微软雅黑"/>
              </a:rPr>
              <a:t>端—边—云三层架构，断网可用、私有化部署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462272"/>
            <a:ext cx="53492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462272"/>
            <a:ext cx="658368" cy="8412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572000"/>
            <a:ext cx="6583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lang="zh-CN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572000"/>
            <a:ext cx="4389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zh-CN">
                <a:solidFill>
                  <a:srgbClr val="142A4C"/>
                </a:solidFill>
                <a:latin typeface="微软雅黑"/>
              </a:rPr>
              <a:t>实施路线与里程碑</a:t>
            </a:r>
          </a:p>
          <a:p>
            <a:pPr algn="l">
              <a:lnSpc>
                <a:spcPct val="115000"/>
              </a:lnSpc>
            </a:pPr>
            <a:r>
              <a:rPr sz="1000" b="0" lang="zh-CN">
                <a:solidFill>
                  <a:srgbClr val="555F6D"/>
                </a:solidFill>
                <a:latin typeface="微软雅黑"/>
              </a:rPr>
              <a:t>四个批次、十个里程碑，每批都有可用成果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462272"/>
            <a:ext cx="53492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462272"/>
            <a:ext cx="658368" cy="8412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572000"/>
            <a:ext cx="6583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lang="zh-CN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572000"/>
            <a:ext cx="4389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zh-CN">
                <a:solidFill>
                  <a:srgbClr val="142A4C"/>
                </a:solidFill>
                <a:latin typeface="微软雅黑"/>
              </a:rPr>
              <a:t>投资预算与效益分析</a:t>
            </a:r>
          </a:p>
          <a:p>
            <a:pPr algn="l">
              <a:lnSpc>
                <a:spcPct val="115000"/>
              </a:lnSpc>
            </a:pPr>
            <a:r>
              <a:rPr sz="1000" b="0" lang="zh-CN">
                <a:solidFill>
                  <a:srgbClr val="555F6D"/>
                </a:solidFill>
                <a:latin typeface="微软雅黑"/>
              </a:rPr>
              <a:t>分阶段小额投入，安全与效率双收益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5431536"/>
            <a:ext cx="53492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5431536"/>
            <a:ext cx="658368" cy="8412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541264"/>
            <a:ext cx="6583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lang="zh-CN">
                <a:solidFill>
                  <a:srgbClr val="FFFFFF"/>
                </a:solidFill>
                <a:latin typeface="微软雅黑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5541264"/>
            <a:ext cx="4389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zh-CN">
                <a:solidFill>
                  <a:srgbClr val="142A4C"/>
                </a:solidFill>
                <a:latin typeface="微软雅黑"/>
              </a:rPr>
              <a:t>安全合规与隐私保护</a:t>
            </a:r>
          </a:p>
          <a:p>
            <a:pPr algn="l">
              <a:lnSpc>
                <a:spcPct val="115000"/>
              </a:lnSpc>
            </a:pPr>
            <a:r>
              <a:rPr sz="1000" b="0" lang="zh-CN">
                <a:solidFill>
                  <a:srgbClr val="555F6D"/>
                </a:solidFill>
                <a:latin typeface="微软雅黑"/>
              </a:rPr>
              <a:t>人脸最小必要，提供替代方案，数据不出校园网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431536"/>
            <a:ext cx="53492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5431536"/>
            <a:ext cx="658368" cy="8412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541264"/>
            <a:ext cx="6583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lang="zh-CN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5541264"/>
            <a:ext cx="4389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zh-CN">
                <a:solidFill>
                  <a:srgbClr val="142A4C"/>
                </a:solidFill>
                <a:latin typeface="微软雅黑"/>
              </a:rPr>
              <a:t>团队优势与预期成果</a:t>
            </a:r>
          </a:p>
          <a:p>
            <a:pPr algn="l">
              <a:lnSpc>
                <a:spcPct val="115000"/>
              </a:lnSpc>
            </a:pPr>
            <a:r>
              <a:rPr sz="1000" b="0" lang="zh-CN">
                <a:solidFill>
                  <a:srgbClr val="555F6D"/>
                </a:solidFill>
                <a:latin typeface="微软雅黑"/>
              </a:rPr>
              <a:t>竞赛成绩、落地成效与可复制方法论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999FA8"/>
                </a:solidFill>
                <a:latin typeface="微软雅黑"/>
              </a:rPr>
              <a:t>“智园卫士”智慧校园管理平台 ｜ 齐河县职业中专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lang="zh-CN">
                <a:solidFill>
                  <a:srgbClr val="555F6D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lang="zh-CN">
                <a:solidFill>
                  <a:srgbClr val="E87A1E"/>
                </a:solidFill>
                <a:latin typeface="微软雅黑"/>
              </a:rPr>
              <a:t>01  </a:t>
            </a:r>
            <a:r>
              <a:rPr sz="2200" b="1" lang="zh-CN">
                <a:solidFill>
                  <a:srgbClr val="FFFFFF"/>
                </a:solidFill>
                <a:latin typeface="微软雅黑"/>
              </a:rPr>
              <a:t>我们看到的真问题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555F6D"/>
                </a:solidFill>
                <a:latin typeface="微软雅黑"/>
              </a:rPr>
              <a:t>校园规模 3000 人以上，管理手段却仍停留在“纸笔 + 对讲机 + 人盯屏幕”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2601468" cy="2743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2601468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55064"/>
            <a:ext cx="238201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数据不通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258568"/>
            <a:ext cx="2345436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监控、门禁、一卡通各自独立，形成数据孤岛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人员信息在不同系统重复录入，口径不一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统计报表靠人工汇总，耗时且易出错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8708" y="1600200"/>
            <a:ext cx="2601468" cy="2743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8708" y="1600200"/>
            <a:ext cx="2601468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8436" y="1655064"/>
            <a:ext cx="238201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管理靠人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6724" y="2258568"/>
            <a:ext cx="2345436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学生请假靠纸质假条，无法核实离校去向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宿舍查寝逐间点名，每晚耗时 60—90 分钟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外来人员纸笔登记，事后几乎无法追溯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600200"/>
            <a:ext cx="2601468" cy="2743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600200"/>
            <a:ext cx="2601468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655064"/>
            <a:ext cx="238201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安防被动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258568"/>
            <a:ext cx="2345436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报警靠人盯屏幕，发现滞后、容易漏看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事发后翻录像查证，平均耗时长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无处置记录，责任链条不清晰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38844" y="1600200"/>
            <a:ext cx="2601468" cy="2743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8844" y="1600200"/>
            <a:ext cx="2601468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8572" y="1655064"/>
            <a:ext cx="238201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投入受限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860" y="2258568"/>
            <a:ext cx="2345436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学校预算有限，无法一次性全面改造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既有设备品牌杂、协议不通，难以整合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缺少年轻技术力量持续运维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17720"/>
            <a:ext cx="11091672" cy="160020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754880"/>
            <a:ext cx="105156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lang="zh-CN">
                <a:solidFill>
                  <a:srgbClr val="E87A1E"/>
                </a:solidFill>
                <a:latin typeface="微软雅黑"/>
              </a:rPr>
              <a:t>结论：</a:t>
            </a:r>
            <a:r>
              <a:rPr sz="1300" b="1" lang="zh-CN">
                <a:solidFill>
                  <a:srgbClr val="142A4C"/>
                </a:solidFill>
                <a:latin typeface="微软雅黑"/>
              </a:rPr>
              <a:t>学校缺的不是更多的硬件，而是一套“把数据和业务串起来”的平台。</a:t>
            </a:r>
          </a:p>
          <a:p>
            <a:pPr algn="l">
              <a:lnSpc>
                <a:spcPct val="130000"/>
              </a:lnSpc>
            </a:pPr>
            <a:r>
              <a:rPr sz="800" b="0" lang="zh-CN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1" lang="zh-CN">
                <a:solidFill>
                  <a:srgbClr val="1E5C9E"/>
                </a:solidFill>
                <a:latin typeface="微软雅黑"/>
              </a:rPr>
              <a:t>我们的判断：</a:t>
            </a:r>
            <a:r>
              <a:rPr sz="1200" b="0" lang="zh-CN">
                <a:solidFill>
                  <a:srgbClr val="333840"/>
                </a:solidFill>
                <a:latin typeface="微软雅黑"/>
              </a:rPr>
              <a:t>人员出入、车辆通行、宿舍归寝、安防应急这四条主线一旦打通，学校 80% 的日常安全管理痛点就能被数据化解决。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999FA8"/>
                </a:solidFill>
                <a:latin typeface="微软雅黑"/>
              </a:rPr>
              <a:t>“智园卫士”智慧校园管理平台 ｜ 齐河县职业中专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lang="zh-CN">
                <a:solidFill>
                  <a:srgbClr val="555F6D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lang="zh-CN">
                <a:solidFill>
                  <a:srgbClr val="E87A1E"/>
                </a:solidFill>
                <a:latin typeface="微软雅黑"/>
              </a:rPr>
              <a:t>02  </a:t>
            </a:r>
            <a:r>
              <a:rPr sz="2200" b="1" lang="zh-CN">
                <a:solidFill>
                  <a:srgbClr val="FFFFFF"/>
                </a:solidFill>
                <a:latin typeface="微软雅黑"/>
              </a:rPr>
              <a:t>项目定位与差异化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555F6D"/>
                </a:solidFill>
                <a:latin typeface="微软雅黑"/>
              </a:rPr>
              <a:t>不是硬件集成项目，而是一套以 AI 视觉为亮点的校园管理平台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lang="zh-CN">
                <a:solidFill>
                  <a:srgbClr val="142A4C"/>
                </a:solidFill>
                <a:latin typeface="微软雅黑"/>
              </a:rPr>
              <a:t>一句话定位：让学校知道“谁在不在校、车能不能进、人有没有事、责任在谁”。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1109167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4033335"/>
                <a:gridCol w="484000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对比维度</a:t>
                      </a:r>
                    </a:p>
                  </a:txBody>
                  <a:tcPr anchor="ctr" marL="0" marR="0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常见做法（硬件堆叠）</a:t>
                      </a:r>
                    </a:p>
                  </a:txBody>
                  <a:tcPr anchor="ctr" marL="0" marR="0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“智园卫士”做法（业务闭环）</a:t>
                      </a:r>
                    </a:p>
                  </a:txBody>
                  <a:tcPr anchor="ctr" marL="0" marR="0">
                    <a:solidFill>
                      <a:srgbClr val="14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建设思路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买设备、装系统，各管一段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先梳理业务，再决定需要什么数据与设备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人员管理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门禁只管开门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通行记录自动成为考勤与在校状态依据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学生请假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纸质假条，离校无核验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审批通过自动下发离校放行，返校自动销假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异常处置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报警弹出，处置靠电话催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事件自动派单到责任人，超时自动升级，全程留痕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数据价值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数据留在各自系统里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统一指标口径，驾驶舱 T+0，迎检一键生成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成本控制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一次性大额投入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分四批投放，软件先行、硬件复用，可小步快跑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zh-CN">
                <a:solidFill>
                  <a:srgbClr val="E87A1E"/>
                </a:solidFill>
                <a:latin typeface="微软雅黑"/>
              </a:rPr>
              <a:t>三大差异化优势：</a:t>
            </a:r>
          </a:p>
          <a:p>
            <a:pPr algn="l">
              <a:lnSpc>
                <a:spcPct val="130000"/>
              </a:lnSpc>
            </a:pPr>
            <a:r>
              <a:rPr sz="1200" b="0" lang="zh-CN">
                <a:solidFill>
                  <a:srgbClr val="333840"/>
                </a:solidFill>
                <a:latin typeface="微软雅黑"/>
              </a:rPr>
              <a:t>① 业务闭环而非设备堆叠　② AI 算法自主可控、可按本校场景定制　③ 低成本、易交付、可私有化、可复制到同类学校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999FA8"/>
                </a:solidFill>
                <a:latin typeface="微软雅黑"/>
              </a:rPr>
              <a:t>“智园卫士”智慧校园管理平台 ｜ 齐河县职业中专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lang="zh-CN">
                <a:solidFill>
                  <a:srgbClr val="555F6D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lang="zh-CN">
                <a:solidFill>
                  <a:srgbClr val="E87A1E"/>
                </a:solidFill>
                <a:latin typeface="微软雅黑"/>
              </a:rPr>
              <a:t>03  </a:t>
            </a:r>
            <a:r>
              <a:rPr sz="2200" b="1" lang="zh-CN">
                <a:solidFill>
                  <a:srgbClr val="FFFFFF"/>
                </a:solidFill>
                <a:latin typeface="微软雅黑"/>
              </a:rPr>
              <a:t>平台功能架构：12 个模块、131 项功能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555F6D"/>
                </a:solidFill>
                <a:latin typeface="微软雅黑"/>
              </a:rPr>
              <a:t>以统一身份与场所为底座，四条业务主线 + 平台与安全两大支撑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5176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651760" cy="3840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lang="zh-CN">
                <a:solidFill>
                  <a:srgbClr val="FFFFFF"/>
                </a:solidFill>
                <a:latin typeface="微软雅黑"/>
              </a:rPr>
              <a:t>M01 人员与组织管理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432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lang="zh-CN">
                <a:solidFill>
                  <a:srgbClr val="333840"/>
                </a:solidFill>
                <a:latin typeface="微软雅黑"/>
              </a:rPr>
              <a:t>统一身份、组织绑定、场所建模</a:t>
            </a:r>
          </a:p>
          <a:p>
            <a:pPr algn="l">
              <a:lnSpc>
                <a:spcPct val="115000"/>
              </a:lnSpc>
            </a:pPr>
            <a:r>
              <a:rPr sz="1000" b="1" lang="zh-CN">
                <a:solidFill>
                  <a:srgbClr val="E87A1E"/>
                </a:solidFill>
                <a:latin typeface="微软雅黑"/>
              </a:rPr>
              <a:t>15 项功能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1463040"/>
            <a:ext cx="265176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4136" y="1463040"/>
            <a:ext cx="2651760" cy="3840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6" y="1481328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lang="zh-CN">
                <a:solidFill>
                  <a:srgbClr val="FFFFFF"/>
                </a:solidFill>
                <a:latin typeface="微软雅黑"/>
              </a:rPr>
              <a:t>M02 通行与门禁管理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1920240"/>
            <a:ext cx="2432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lang="zh-CN">
                <a:solidFill>
                  <a:srgbClr val="333840"/>
                </a:solidFill>
                <a:latin typeface="微软雅黑"/>
              </a:rPr>
              <a:t>策略引擎、闸机鉴权、访客管理</a:t>
            </a:r>
          </a:p>
          <a:p>
            <a:pPr algn="l">
              <a:lnSpc>
                <a:spcPct val="115000"/>
              </a:lnSpc>
            </a:pPr>
            <a:r>
              <a:rPr sz="1000" b="1" lang="zh-CN">
                <a:solidFill>
                  <a:srgbClr val="E87A1E"/>
                </a:solidFill>
                <a:latin typeface="微软雅黑"/>
              </a:rPr>
              <a:t>16 项功能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1" y="1463040"/>
            <a:ext cx="265176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1" y="1463040"/>
            <a:ext cx="2651760" cy="3840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1" y="1481328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lang="zh-CN">
                <a:solidFill>
                  <a:srgbClr val="FFFFFF"/>
                </a:solidFill>
                <a:latin typeface="微软雅黑"/>
              </a:rPr>
              <a:t>M03 车辆管理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920240"/>
            <a:ext cx="2432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lang="zh-CN">
                <a:solidFill>
                  <a:srgbClr val="333840"/>
                </a:solidFill>
                <a:latin typeface="微软雅黑"/>
              </a:rPr>
              <a:t>车牌识别、授权放行、违规处置</a:t>
            </a:r>
          </a:p>
          <a:p>
            <a:pPr algn="l">
              <a:lnSpc>
                <a:spcPct val="115000"/>
              </a:lnSpc>
            </a:pPr>
            <a:r>
              <a:rPr sz="1000" b="1" lang="zh-CN">
                <a:solidFill>
                  <a:srgbClr val="E87A1E"/>
                </a:solidFill>
                <a:latin typeface="微软雅黑"/>
              </a:rPr>
              <a:t>11 项功能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5128" y="1463040"/>
            <a:ext cx="265176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5128" y="1463040"/>
            <a:ext cx="2651760" cy="3840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6567" y="1481328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lang="zh-CN">
                <a:solidFill>
                  <a:srgbClr val="FFFFFF"/>
                </a:solidFill>
                <a:latin typeface="微软雅黑"/>
              </a:rPr>
              <a:t>M04 宿舍归寝管理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5" y="1920240"/>
            <a:ext cx="2432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lang="zh-CN">
                <a:solidFill>
                  <a:srgbClr val="333840"/>
                </a:solidFill>
                <a:latin typeface="微软雅黑"/>
              </a:rPr>
              <a:t>床位台账、归寝统计、未归预警</a:t>
            </a:r>
          </a:p>
          <a:p>
            <a:pPr algn="l">
              <a:lnSpc>
                <a:spcPct val="115000"/>
              </a:lnSpc>
            </a:pPr>
            <a:r>
              <a:rPr sz="1000" b="1" lang="zh-CN">
                <a:solidFill>
                  <a:srgbClr val="E87A1E"/>
                </a:solidFill>
                <a:latin typeface="微软雅黑"/>
              </a:rPr>
              <a:t>9 项功能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35808"/>
            <a:ext cx="265176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035808"/>
            <a:ext cx="2651760" cy="3840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54096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lang="zh-CN">
                <a:solidFill>
                  <a:srgbClr val="FFFFFF"/>
                </a:solidFill>
                <a:latin typeface="微软雅黑"/>
              </a:rPr>
              <a:t>M05 安防监控与应急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493008"/>
            <a:ext cx="2432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lang="zh-CN">
                <a:solidFill>
                  <a:srgbClr val="333840"/>
                </a:solidFill>
                <a:latin typeface="微软雅黑"/>
              </a:rPr>
              <a:t>视频接入、AI 算法、事件闭环</a:t>
            </a:r>
          </a:p>
          <a:p>
            <a:pPr algn="l">
              <a:lnSpc>
                <a:spcPct val="115000"/>
              </a:lnSpc>
            </a:pPr>
            <a:r>
              <a:rPr sz="1000" b="1" lang="zh-CN">
                <a:solidFill>
                  <a:srgbClr val="E87A1E"/>
                </a:solidFill>
                <a:latin typeface="微软雅黑"/>
              </a:rPr>
              <a:t>17 项功能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74136" y="3035808"/>
            <a:ext cx="265176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74136" y="3035808"/>
            <a:ext cx="2651760" cy="3840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65576" y="3054096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lang="zh-CN">
                <a:solidFill>
                  <a:srgbClr val="FFFFFF"/>
                </a:solidFill>
                <a:latin typeface="微软雅黑"/>
              </a:rPr>
              <a:t>M06 教学与办公协同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3864" y="3493008"/>
            <a:ext cx="2432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lang="zh-CN">
                <a:solidFill>
                  <a:srgbClr val="333840"/>
                </a:solidFill>
                <a:latin typeface="微软雅黑"/>
              </a:rPr>
              <a:t>考勤、审批、通知、值班</a:t>
            </a:r>
          </a:p>
          <a:p>
            <a:pPr algn="l">
              <a:lnSpc>
                <a:spcPct val="115000"/>
              </a:lnSpc>
            </a:pPr>
            <a:r>
              <a:rPr sz="1000" b="1" lang="zh-CN">
                <a:solidFill>
                  <a:srgbClr val="E87A1E"/>
                </a:solidFill>
                <a:latin typeface="微软雅黑"/>
              </a:rPr>
              <a:t>9 项功能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1" y="3035808"/>
            <a:ext cx="265176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1" y="3035808"/>
            <a:ext cx="2651760" cy="3840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1" y="3054096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lang="zh-CN">
                <a:solidFill>
                  <a:srgbClr val="FFFFFF"/>
                </a:solidFill>
                <a:latin typeface="微软雅黑"/>
              </a:rPr>
              <a:t>M07 生活服务与一卡通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3493008"/>
            <a:ext cx="2432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lang="zh-CN">
                <a:solidFill>
                  <a:srgbClr val="333840"/>
                </a:solidFill>
                <a:latin typeface="微软雅黑"/>
              </a:rPr>
              <a:t>消费、充值、水电控、预约</a:t>
            </a:r>
          </a:p>
          <a:p>
            <a:pPr algn="l">
              <a:lnSpc>
                <a:spcPct val="115000"/>
              </a:lnSpc>
            </a:pPr>
            <a:r>
              <a:rPr sz="1000" b="1" lang="zh-CN">
                <a:solidFill>
                  <a:srgbClr val="E87A1E"/>
                </a:solidFill>
                <a:latin typeface="微软雅黑"/>
              </a:rPr>
              <a:t>10 项功能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25128" y="3035808"/>
            <a:ext cx="265176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25128" y="3035808"/>
            <a:ext cx="2651760" cy="384048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16567" y="3054096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lang="zh-CN">
                <a:solidFill>
                  <a:srgbClr val="FFFFFF"/>
                </a:solidFill>
                <a:latin typeface="微软雅黑"/>
              </a:rPr>
              <a:t>M08 能源与设施管理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4855" y="3493008"/>
            <a:ext cx="2432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lang="zh-CN">
                <a:solidFill>
                  <a:srgbClr val="333840"/>
                </a:solidFill>
                <a:latin typeface="微软雅黑"/>
              </a:rPr>
              <a:t>能耗监测、报修、预防性维护</a:t>
            </a:r>
          </a:p>
          <a:p>
            <a:pPr algn="l">
              <a:lnSpc>
                <a:spcPct val="115000"/>
              </a:lnSpc>
            </a:pPr>
            <a:r>
              <a:rPr sz="1000" b="1" lang="zh-CN">
                <a:solidFill>
                  <a:srgbClr val="E87A1E"/>
                </a:solidFill>
                <a:latin typeface="微软雅黑"/>
              </a:rPr>
              <a:t>9 项功能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08576"/>
            <a:ext cx="265176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608576"/>
            <a:ext cx="2651760" cy="38404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626864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lang="zh-CN">
                <a:solidFill>
                  <a:srgbClr val="FFFFFF"/>
                </a:solidFill>
                <a:latin typeface="微软雅黑"/>
              </a:rPr>
              <a:t>M09 数据与决策分析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065776"/>
            <a:ext cx="2432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lang="zh-CN">
                <a:solidFill>
                  <a:srgbClr val="333840"/>
                </a:solidFill>
                <a:latin typeface="微软雅黑"/>
              </a:rPr>
              <a:t>数据中台、驾驶舱、报表上报</a:t>
            </a:r>
          </a:p>
          <a:p>
            <a:pPr algn="l">
              <a:lnSpc>
                <a:spcPct val="115000"/>
              </a:lnSpc>
            </a:pPr>
            <a:r>
              <a:rPr sz="1000" b="1" lang="zh-CN">
                <a:solidFill>
                  <a:srgbClr val="E87A1E"/>
                </a:solidFill>
                <a:latin typeface="微软雅黑"/>
              </a:rPr>
              <a:t>7 项功能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74136" y="4608576"/>
            <a:ext cx="265176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74136" y="4608576"/>
            <a:ext cx="2651760" cy="38404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65576" y="4626864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lang="zh-CN">
                <a:solidFill>
                  <a:srgbClr val="FFFFFF"/>
                </a:solidFill>
                <a:latin typeface="微软雅黑"/>
              </a:rPr>
              <a:t>M10 安全与合规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83864" y="5065776"/>
            <a:ext cx="2432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lang="zh-CN">
                <a:solidFill>
                  <a:srgbClr val="333840"/>
                </a:solidFill>
                <a:latin typeface="微软雅黑"/>
              </a:rPr>
              <a:t>权限、审计、隐私合规、容灾</a:t>
            </a:r>
          </a:p>
          <a:p>
            <a:pPr algn="l">
              <a:lnSpc>
                <a:spcPct val="115000"/>
              </a:lnSpc>
            </a:pPr>
            <a:r>
              <a:rPr sz="1000" b="1" lang="zh-CN">
                <a:solidFill>
                  <a:srgbClr val="E87A1E"/>
                </a:solidFill>
                <a:latin typeface="微软雅黑"/>
              </a:rPr>
              <a:t>8 项功能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1" y="4608576"/>
            <a:ext cx="265176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1" y="4608576"/>
            <a:ext cx="2651760" cy="38404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1071" y="4626864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lang="zh-CN">
                <a:solidFill>
                  <a:srgbClr val="FFFFFF"/>
                </a:solidFill>
                <a:latin typeface="微软雅黑"/>
              </a:rPr>
              <a:t>M11 移动端与智能交互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59" y="5065776"/>
            <a:ext cx="2432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lang="zh-CN">
                <a:solidFill>
                  <a:srgbClr val="333840"/>
                </a:solidFill>
                <a:latin typeface="微软雅黑"/>
              </a:rPr>
              <a:t>小程序、家长端、自助终端</a:t>
            </a:r>
          </a:p>
          <a:p>
            <a:pPr algn="l">
              <a:lnSpc>
                <a:spcPct val="115000"/>
              </a:lnSpc>
            </a:pPr>
            <a:r>
              <a:rPr sz="1000" b="1" lang="zh-CN">
                <a:solidFill>
                  <a:srgbClr val="E87A1E"/>
                </a:solidFill>
                <a:latin typeface="微软雅黑"/>
              </a:rPr>
              <a:t>8 项功能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25128" y="4608576"/>
            <a:ext cx="265176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25128" y="4608576"/>
            <a:ext cx="2651760" cy="38404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16567" y="4626864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lang="zh-CN">
                <a:solidFill>
                  <a:srgbClr val="FFFFFF"/>
                </a:solidFill>
                <a:latin typeface="微软雅黑"/>
              </a:rPr>
              <a:t>M12 平台与技术底座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34855" y="5065776"/>
            <a:ext cx="2432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lang="zh-CN">
                <a:solidFill>
                  <a:srgbClr val="333840"/>
                </a:solidFill>
                <a:latin typeface="微软雅黑"/>
              </a:rPr>
              <a:t>IoT 接入、规则引擎、工作流</a:t>
            </a:r>
          </a:p>
          <a:p>
            <a:pPr algn="l">
              <a:lnSpc>
                <a:spcPct val="115000"/>
              </a:lnSpc>
            </a:pPr>
            <a:r>
              <a:rPr sz="1000" b="1" lang="zh-CN">
                <a:solidFill>
                  <a:srgbClr val="E87A1E"/>
                </a:solidFill>
                <a:latin typeface="微软雅黑"/>
              </a:rPr>
              <a:t>12 项功能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zh-CN">
                <a:solidFill>
                  <a:srgbClr val="142A4C"/>
                </a:solidFill>
                <a:latin typeface="微软雅黑"/>
              </a:rPr>
              <a:t>每条业务主线都以“可验收的业务动作”为落点：通行即考勤、请假即放行、预警即派单、归寝有预警。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999FA8"/>
                </a:solidFill>
                <a:latin typeface="微软雅黑"/>
              </a:rPr>
              <a:t>“智园卫士”智慧校园管理平台 ｜ 齐河县职业中专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lang="zh-CN">
                <a:solidFill>
                  <a:srgbClr val="555F6D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lang="zh-CN">
                <a:solidFill>
                  <a:srgbClr val="E87A1E"/>
                </a:solidFill>
                <a:latin typeface="微软雅黑"/>
              </a:rPr>
              <a:t>04  </a:t>
            </a:r>
            <a:r>
              <a:rPr sz="2200" b="1" lang="zh-CN">
                <a:solidFill>
                  <a:srgbClr val="FFFFFF"/>
                </a:solidFill>
                <a:latin typeface="微软雅黑"/>
              </a:rPr>
              <a:t>四大核心业务闭环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555F6D"/>
                </a:solidFill>
                <a:latin typeface="微软雅黑"/>
              </a:rPr>
              <a:t>这是本项目区别于普通硬件集成方案的关键，也是评委最容易看懂的亮点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601468" cy="3703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601468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9344"/>
            <a:ext cx="238201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闭环一 · 通行即考勤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212848"/>
            <a:ext cx="2345436" cy="292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教职工刷脸进校 → 自动判定签到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离校记录 → 自动判定签退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异常自动生成待办 → 移动端申诉审批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月度考勤自动汇总，零人工干预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8708" y="1554480"/>
            <a:ext cx="2601468" cy="3703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8708" y="1554480"/>
            <a:ext cx="2601468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8436" y="1609344"/>
            <a:ext cx="238201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闭环二 · 请假即放行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6724" y="2212848"/>
            <a:ext cx="2345436" cy="292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学生在小程序提交请假 → 班主任审批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审批通过自动下发校门放行权限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无假条离校 100% 拦截并通知班主任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返校刷脸自动销假，超期自动提醒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554480"/>
            <a:ext cx="2601468" cy="3703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554480"/>
            <a:ext cx="2601468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609344"/>
            <a:ext cx="238201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闭环三 · 预警即派单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212848"/>
            <a:ext cx="2345436" cy="292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AI 识别异常 → 多帧确认抑制误报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自动派单到区域责任人（含截图定位）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3 分钟未接单自动升级上一级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处置结果留痕归档，闭环率 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38844" y="1554480"/>
            <a:ext cx="2601468" cy="3703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8844" y="1554480"/>
            <a:ext cx="2601468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8572" y="1609344"/>
            <a:ext cx="238201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闭环四 · 归寝有预警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860" y="2212848"/>
            <a:ext cx="2345436" cy="292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宿舍门禁数据自动核对归寝情况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未归 → 宿管 → 班主任 → 学生科逐级通知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同步推送家长端，责任可追溯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请假在校外者自动免于判定，避免误报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32120"/>
            <a:ext cx="10607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lang="zh-CN">
                <a:solidFill>
                  <a:srgbClr val="E87A1E"/>
                </a:solidFill>
                <a:latin typeface="微软雅黑"/>
              </a:rPr>
              <a:t>价值：</a:t>
            </a:r>
            <a:r>
              <a:rPr sz="1200" b="1" lang="zh-CN">
                <a:solidFill>
                  <a:srgbClr val="142A4C"/>
                </a:solidFill>
                <a:latin typeface="微软雅黑"/>
              </a:rPr>
              <a:t>把安全管理从事后追溯变成事中发现；把管理责任从“口头交代”变成“系统留痕”。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999FA8"/>
                </a:solidFill>
                <a:latin typeface="微软雅黑"/>
              </a:rPr>
              <a:t>“智园卫士”智慧校园管理平台 ｜ 齐河县职业中专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lang="zh-CN">
                <a:solidFill>
                  <a:srgbClr val="555F6D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lang="zh-CN">
                <a:solidFill>
                  <a:srgbClr val="E87A1E"/>
                </a:solidFill>
                <a:latin typeface="微软雅黑"/>
              </a:rPr>
              <a:t>05  </a:t>
            </a:r>
            <a:r>
              <a:rPr sz="2200" b="1" lang="zh-CN">
                <a:solidFill>
                  <a:srgbClr val="FFFFFF"/>
                </a:solidFill>
                <a:latin typeface="微软雅黑"/>
              </a:rPr>
              <a:t>AI 视觉技术亮点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555F6D"/>
                </a:solidFill>
                <a:latin typeface="微软雅黑"/>
              </a:rPr>
              <a:t>算法自主训练、按本校场景定制，并用工程手段把误报压到可接受水平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44824" cy="3840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44824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9344"/>
            <a:ext cx="33253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识别场景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212848"/>
            <a:ext cx="3288792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周界入侵与翻越：围墙、天台、危化品库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烟火识别：宿舍、食堂、仓库早期预警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人员聚集：门口、楼道、食堂密度预警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打架与跌倒：操场、楼道异常行为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消防通道占用：违规停车自动抓拍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064" y="1554480"/>
            <a:ext cx="3544824" cy="3840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2064" y="1554480"/>
            <a:ext cx="3544824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1792" y="1609344"/>
            <a:ext cx="33253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工程手段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80" y="2212848"/>
            <a:ext cx="3288792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多帧确认：连续命中才生成事件，杜绝单帧误报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区域过滤：屏蔽树枝晃动、车辆灯光等干扰源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抑制窗口：同区域同类事件 5 分钟内只报一次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分级策略：按置信度分为提示、告警、紧急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5488" y="1554480"/>
            <a:ext cx="3544824" cy="3840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5488" y="1554480"/>
            <a:ext cx="3544824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5215" y="1609344"/>
            <a:ext cx="33253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训练与评测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3504" y="2212848"/>
            <a:ext cx="3288792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自建本校场景数据集，含夜间、逆光、雨雪样本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YOLO 系列模型迁移学习，边缘设备量化部署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独立测试集评测，训练与测试样本严格隔离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设定误报红线（如烟火 ≤2 次/路·天）并持续迭代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5577840"/>
          <a:ext cx="1109167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2688890"/>
                <a:gridCol w="2352778"/>
                <a:gridCol w="2352778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算法场景</a:t>
                      </a:r>
                    </a:p>
                  </a:txBody>
                  <a:tcPr anchor="ctr" marL="0" marR="0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准确率目标</a:t>
                      </a:r>
                    </a:p>
                  </a:txBody>
                  <a:tcPr anchor="ctr" marL="0" marR="0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召回率目标</a:t>
                      </a:r>
                    </a:p>
                  </a:txBody>
                  <a:tcPr anchor="ctr" marL="0" marR="0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误报控制</a:t>
                      </a:r>
                    </a:p>
                  </a:txBody>
                  <a:tcPr anchor="ctr" marL="0" marR="0">
                    <a:solidFill>
                      <a:srgbClr val="142A4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周界入侵 / 烟火识别 / 消防通道占用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≥92% / ≥90% / ≥93%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≥90% / ≥95% / —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840"/>
                          </a:solidFill>
                          <a:latin typeface="微软雅黑"/>
                        </a:rPr>
                        <a:t>≤3 / ≤2 / ≤2 次每路每天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999FA8"/>
                </a:solidFill>
                <a:latin typeface="微软雅黑"/>
              </a:rPr>
              <a:t>“智园卫士”智慧校园管理平台 ｜ 齐河县职业中专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lang="zh-CN">
                <a:solidFill>
                  <a:srgbClr val="555F6D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lang="zh-CN">
                <a:solidFill>
                  <a:srgbClr val="E87A1E"/>
                </a:solidFill>
                <a:latin typeface="微软雅黑"/>
              </a:rPr>
              <a:t>06  </a:t>
            </a:r>
            <a:r>
              <a:rPr sz="2200" b="1" lang="zh-CN">
                <a:solidFill>
                  <a:srgbClr val="FFFFFF"/>
                </a:solidFill>
                <a:latin typeface="微软雅黑"/>
              </a:rPr>
              <a:t>技术架构与实现路径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555F6D"/>
                </a:solidFill>
                <a:latin typeface="微软雅黑"/>
              </a:rPr>
              <a:t>端—边—云三层架构：硬件尽量简单，能力尽量放在软件与算法上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371600" cy="804672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展现层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481328"/>
            <a:ext cx="9628632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2848" y="1536192"/>
            <a:ext cx="9235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lang="zh-CN">
                <a:solidFill>
                  <a:srgbClr val="333840"/>
                </a:solidFill>
                <a:latin typeface="微软雅黑"/>
              </a:rPr>
              <a:t>管理端 Web（Vue3）｜ 驾驶舱大屏 ｜ 微信小程序（教职工/学生/家长）｜ 自助终端与信息发布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371600" cy="80467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应用层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377440"/>
            <a:ext cx="9628632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12848" y="2432304"/>
            <a:ext cx="9235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lang="zh-CN">
                <a:solidFill>
                  <a:srgbClr val="333840"/>
                </a:solidFill>
                <a:latin typeface="微软雅黑"/>
              </a:rPr>
              <a:t>人员与组织 ｜ 通行门禁 ｜ 车辆 ｜ 宿舍归寝 ｜ 安防与事件 ｜ 协同办公 ｜ 生活服务 ｜ 能源设施 ｜ 数据分析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73552"/>
            <a:ext cx="1371600" cy="804672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73552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平台层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3273552"/>
            <a:ext cx="9628632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12848" y="3328416"/>
            <a:ext cx="9235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lang="zh-CN">
                <a:solidFill>
                  <a:srgbClr val="333840"/>
                </a:solidFill>
                <a:latin typeface="微软雅黑"/>
              </a:rPr>
              <a:t>统一身份与权限 ｜ 规则引擎 ｜ 工作流引擎 ｜ 通知中心 ｜ 数据中台 ｜ IoT 设备接入 ｜ 视频网关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69664"/>
            <a:ext cx="1371600" cy="804672"/>
          </a:xfrm>
          <a:prstGeom prst="rect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69664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边缘层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4169664"/>
            <a:ext cx="9628632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224528"/>
            <a:ext cx="9235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lang="zh-CN">
                <a:solidFill>
                  <a:srgbClr val="333840"/>
                </a:solidFill>
                <a:latin typeface="微软雅黑"/>
              </a:rPr>
              <a:t>AI 边缘计算盒子：视频推理（15FPS/路）｜ 断网本地放行 ｜ 告警本地上报 ｜ 数据缓存补传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65776"/>
            <a:ext cx="1371600" cy="804672"/>
          </a:xfrm>
          <a:prstGeom prst="rect">
            <a:avLst/>
          </a:prstGeom>
          <a:solidFill>
            <a:srgbClr val="55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65776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感知层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5065776"/>
            <a:ext cx="9628632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12848" y="5120640"/>
            <a:ext cx="9235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lang="zh-CN">
                <a:solidFill>
                  <a:srgbClr val="333840"/>
                </a:solidFill>
                <a:latin typeface="微软雅黑"/>
              </a:rPr>
              <a:t>门禁一体机与闸机 ｜ 车牌识别与道闸 ｜ 网络摄像机与 NVR ｜ 访客机 ｜ 传感器与智能水电表 ｜ 报警柱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0760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lang="zh-CN">
                <a:solidFill>
                  <a:srgbClr val="E87A1E"/>
                </a:solidFill>
                <a:latin typeface="微软雅黑"/>
              </a:rPr>
              <a:t>技术选型：</a:t>
            </a:r>
            <a:r>
              <a:rPr sz="1150" b="0" lang="zh-CN">
                <a:solidFill>
                  <a:srgbClr val="333840"/>
                </a:solidFill>
                <a:latin typeface="微软雅黑"/>
              </a:rPr>
              <a:t>Python/FastAPI + Vue3 + PostgreSQL + Redis + EMQX + MinIO + ONNX Runtime；竞赛版与商业版同一代码基线，按配置切换。</a:t>
            </a:r>
          </a:p>
          <a:p>
            <a:pPr algn="l">
              <a:lnSpc>
                <a:spcPct val="125000"/>
              </a:lnSpc>
            </a:pPr>
            <a:r>
              <a:rPr sz="1150" b="1" lang="zh-CN">
                <a:solidFill>
                  <a:srgbClr val="E87A1E"/>
                </a:solidFill>
                <a:latin typeface="微软雅黑"/>
              </a:rPr>
              <a:t>可靠性设计：</a:t>
            </a:r>
            <a:r>
              <a:rPr sz="1150" b="0" lang="zh-CN">
                <a:solidFill>
                  <a:srgbClr val="333840"/>
                </a:solidFill>
                <a:latin typeface="微软雅黑"/>
              </a:rPr>
              <a:t>断网时门禁按本地白名单继续放行，恢复后自动补传；AI 分析异常不影响通行业务。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999FA8"/>
                </a:solidFill>
                <a:latin typeface="微软雅黑"/>
              </a:rPr>
              <a:t>“智园卫士”智慧校园管理平台 ｜ 齐河县职业中专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lang="zh-CN">
                <a:solidFill>
                  <a:srgbClr val="555F6D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lang="zh-CN">
                <a:solidFill>
                  <a:srgbClr val="E87A1E"/>
                </a:solidFill>
                <a:latin typeface="微软雅黑"/>
              </a:rPr>
              <a:t>07  </a:t>
            </a:r>
            <a:r>
              <a:rPr sz="2200" b="1" lang="zh-CN">
                <a:solidFill>
                  <a:srgbClr val="FFFFFF"/>
                </a:solidFill>
                <a:latin typeface="微软雅黑"/>
              </a:rPr>
              <a:t>实施路线与里程碑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555F6D"/>
                </a:solidFill>
                <a:latin typeface="微软雅黑"/>
              </a:rPr>
              <a:t>四个批次、十个里程碑：每一批结束都有可用成果，不做“半成品资产”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91672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617720"/>
          <a:ext cx="1109167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979"/>
                <a:gridCol w="1932097"/>
                <a:gridCol w="2647689"/>
                <a:gridCol w="4722905"/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批次 / 里程碑</a:t>
                      </a:r>
                    </a:p>
                  </a:txBody>
                  <a:tcPr anchor="ctr" marL="0" marR="0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时间</a:t>
                      </a:r>
                    </a:p>
                  </a:txBody>
                  <a:tcPr anchor="ctr" marL="0" marR="0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功能项 / 工程量 / 人力成本</a:t>
                      </a:r>
                    </a:p>
                  </a:txBody>
                  <a:tcPr anchor="ctr" marL="0" marR="0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关键成果与验收标准</a:t>
                      </a:r>
                    </a:p>
                  </a:txBody>
                  <a:tcPr anchor="ctr" marL="0" marR="0">
                    <a:solidFill>
                      <a:srgbClr val="142A4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MVP（M1—M4）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2026-12 — 2027-04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31 项 / 479 人天 / 57.5 万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跑通“身份—通行—请假—预警—派单”，20 分钟演示零故障，支撑参赛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V1.0（M5—M7）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2027-04 — 2027-08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44 项 / 560 人天 / 67.2 万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车辆、归寝、考勤协同、驾驶舱、移动端上线，验收用例通过率 ≥95%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V2.0（M8）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2027-09 — 2028-02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38 项 / 455 人天 / 54.6 万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一卡通、能耗、设施运维、多校区适配，具备对外交付能力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V3.0（M9）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2028-03 — 2028-10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18 项 / 211 人天 / 25.3 万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数字孪生、语音助手、开放生态，完成 2 所以上外部学校试点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999FA8"/>
                </a:solidFill>
                <a:latin typeface="微软雅黑"/>
              </a:rPr>
              <a:t>“智园卫士”智慧校园管理平台 ｜ 齐河县职业中专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lang="zh-CN">
                <a:solidFill>
                  <a:srgbClr val="555F6D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lang="zh-CN">
                <a:solidFill>
                  <a:srgbClr val="E87A1E"/>
                </a:solidFill>
                <a:latin typeface="微软雅黑"/>
              </a:rPr>
              <a:t>08  </a:t>
            </a:r>
            <a:r>
              <a:rPr sz="2200" b="1" lang="zh-CN">
                <a:solidFill>
                  <a:srgbClr val="FFFFFF"/>
                </a:solidFill>
                <a:latin typeface="微软雅黑"/>
              </a:rPr>
              <a:t>投资预算与效益分析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555F6D"/>
                </a:solidFill>
                <a:latin typeface="微软雅黑"/>
              </a:rPr>
              <a:t>分阶段小额投放：软件先行、硬件复用，先小后大、见效再扩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56235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554480"/>
          <a:ext cx="544067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212"/>
                <a:gridCol w="2380297"/>
                <a:gridCol w="1360170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投资方案</a:t>
                      </a:r>
                    </a:p>
                  </a:txBody>
                  <a:tcPr anchor="ctr" marL="0" marR="0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建设范围</a:t>
                      </a:r>
                    </a:p>
                  </a:txBody>
                  <a:tcPr anchor="ctr" marL="0" marR="0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合计（含税）</a:t>
                      </a:r>
                    </a:p>
                  </a:txBody>
                  <a:tcPr anchor="ctr" marL="0" marR="0">
                    <a:solidFill>
                      <a:srgbClr val="142A4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方案一 竞赛版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MVP 核心功能子集 + 最小硬件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41.6 万元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方案二 起步版（推荐）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MVP 全批次 + MVP 阶段硬件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111.7 万元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方案三 一期建设（推荐）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MVP + V1.0 + 两阶段硬件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298.7 万元</a:t>
                      </a:r>
                    </a:p>
                  </a:txBody>
                  <a:tcPr anchor="ctr" marL="0" marR="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方案四 完整平台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MVP + V1 + V2 + 全场景硬件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840"/>
                          </a:solidFill>
                          <a:latin typeface="微软雅黑"/>
                        </a:rPr>
                        <a:t>434.4 万元</a:t>
                      </a:r>
                    </a:p>
                  </a:txBody>
                  <a:tcPr anchor="ctr" marL="0" marR="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217920" y="4389120"/>
            <a:ext cx="5440680" cy="1874519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498848"/>
            <a:ext cx="5120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lang="zh-CN">
                <a:solidFill>
                  <a:srgbClr val="E87A1E"/>
                </a:solidFill>
                <a:latin typeface="微软雅黑"/>
              </a:rPr>
              <a:t>效益（年度估算）：</a:t>
            </a:r>
          </a:p>
          <a:p>
            <a:pPr algn="l">
              <a:lnSpc>
                <a:spcPct val="115000"/>
              </a:lnSpc>
            </a:pPr>
            <a:r>
              <a:rPr sz="1050" b="0" lang="zh-CN">
                <a:solidFill>
                  <a:srgbClr val="333840"/>
                </a:solidFill>
                <a:latin typeface="微软雅黑"/>
              </a:rPr>
              <a:t>▪ 归寝点名：节约约 240 小时/年　▪ 考勤统计：约 120 小时/年</a:t>
            </a:r>
          </a:p>
          <a:p>
            <a:pPr algn="l">
              <a:lnSpc>
                <a:spcPct val="115000"/>
              </a:lnSpc>
            </a:pPr>
            <a:r>
              <a:rPr sz="1050" b="0" lang="zh-CN">
                <a:solidFill>
                  <a:srgbClr val="333840"/>
                </a:solidFill>
                <a:latin typeface="微软雅黑"/>
              </a:rPr>
              <a:t>▪ 访客登记：3000 人次/年节约约 150 小时</a:t>
            </a:r>
          </a:p>
          <a:p>
            <a:pPr algn="l">
              <a:lnSpc>
                <a:spcPct val="115000"/>
              </a:lnSpc>
            </a:pPr>
            <a:r>
              <a:rPr sz="1050" b="0" lang="zh-CN">
                <a:solidFill>
                  <a:srgbClr val="333840"/>
                </a:solidFill>
                <a:latin typeface="微软雅黑"/>
              </a:rPr>
              <a:t>▪ 迎检与上报：约 20 人日/年</a:t>
            </a:r>
          </a:p>
          <a:p>
            <a:pPr algn="l">
              <a:lnSpc>
                <a:spcPct val="115000"/>
              </a:lnSpc>
            </a:pPr>
            <a:r>
              <a:rPr sz="1050" b="0" lang="zh-CN">
                <a:solidFill>
                  <a:srgbClr val="333840"/>
                </a:solidFill>
                <a:latin typeface="微软雅黑"/>
              </a:rPr>
              <a:t>▪ 安全事件响应从“事后追溯”变为“事中处置”</a:t>
            </a:r>
          </a:p>
          <a:p>
            <a:pPr algn="l">
              <a:lnSpc>
                <a:spcPct val="115000"/>
              </a:lnSpc>
            </a:pPr>
            <a:r>
              <a:rPr sz="1050" b="0" lang="zh-CN">
                <a:solidFill>
                  <a:srgbClr val="333840"/>
                </a:solidFill>
                <a:latin typeface="微软雅黑"/>
              </a:rPr>
              <a:t>▪ 能耗异常实时发现，节能 3%—5%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999FA8"/>
                </a:solidFill>
                <a:latin typeface="微软雅黑"/>
              </a:rPr>
              <a:t>“智园卫士”智慧校园管理平台 ｜ 齐河县职业中专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lang="zh-CN">
                <a:solidFill>
                  <a:srgbClr val="555F6D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lang="zh-CN">
                <a:solidFill>
                  <a:srgbClr val="E87A1E"/>
                </a:solidFill>
                <a:latin typeface="微软雅黑"/>
              </a:rPr>
              <a:t>09  </a:t>
            </a:r>
            <a:r>
              <a:rPr sz="2200" b="1" lang="zh-CN">
                <a:solidFill>
                  <a:srgbClr val="FFFFFF"/>
                </a:solidFill>
                <a:latin typeface="微软雅黑"/>
              </a:rPr>
              <a:t>安全合规与隐私保护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555F6D"/>
                </a:solidFill>
                <a:latin typeface="微软雅黑"/>
              </a:rPr>
              <a:t>技术方案必须先过“合规关”：人脸是敏感个人信息，不能想采就采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3544824" cy="3108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544824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55064"/>
            <a:ext cx="33253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合规原则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258568"/>
            <a:ext cx="3288792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最小必要：只采集业务必需的信息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告知同意：采集前告知用途，未成年人取得监护人同意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提供替代：必须支持刷卡、二维码等非人脸方式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可撤回：支持撤回同意与账号注销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064" y="1600200"/>
            <a:ext cx="3544824" cy="3108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2064" y="1600200"/>
            <a:ext cx="3544824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1792" y="1655064"/>
            <a:ext cx="33253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技术保护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80" y="2258568"/>
            <a:ext cx="3288792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人脸模板加密存储，不出校园网、不上公有云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传输 TLS 加密，敏感字段脱敏展示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RBAC + 数据行级权限，最小授权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导出、查询、删除等操作全部审计留痕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5488" y="1600200"/>
            <a:ext cx="3544824" cy="3108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5488" y="1600200"/>
            <a:ext cx="3544824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5215" y="1655064"/>
            <a:ext cx="33253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管理保障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3504" y="2258568"/>
            <a:ext cx="3288792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宿舍房间内不部署任何视频采集设备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涉学生安全事件仅对有权人员可见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数据保留有期限，到期自动清理并留痕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明确安全责任人，制定事件响应流程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11091672" cy="123444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74920"/>
            <a:ext cx="10515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zh-CN">
                <a:solidFill>
                  <a:srgbClr val="E87A1E"/>
                </a:solidFill>
                <a:latin typeface="微软雅黑"/>
              </a:rPr>
              <a:t>我们的态度：</a:t>
            </a:r>
            <a:r>
              <a:rPr sz="1200" b="1" lang="zh-CN">
                <a:solidFill>
                  <a:srgbClr val="142A4C"/>
                </a:solidFill>
                <a:latin typeface="微软雅黑"/>
              </a:rPr>
              <a:t>技术能力越强，越要克制。我们把“合规”写进需求规格说明书（M10 模块 + 8.3 节非功能需求），而不是等出了问题再补。</a:t>
            </a:r>
          </a:p>
          <a:p>
            <a:pPr algn="l">
              <a:lnSpc>
                <a:spcPct val="130000"/>
              </a:lnSpc>
            </a:pPr>
            <a:r>
              <a:rPr sz="1150" b="0" lang="zh-CN">
                <a:solidFill>
                  <a:srgbClr val="333840"/>
                </a:solidFill>
                <a:latin typeface="微软雅黑"/>
              </a:rPr>
              <a:t>同时按等保 2.0 三级要求进行安全设计与加固，视频与通行数据只服务于学校管理。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999FA8"/>
                </a:solidFill>
                <a:latin typeface="微软雅黑"/>
              </a:rPr>
              <a:t>“智园卫士”智慧校园管理平台 ｜ 齐河县职业中专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lang="zh-CN">
                <a:solidFill>
                  <a:srgbClr val="555F6D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lang="zh-CN">
                <a:solidFill>
                  <a:srgbClr val="E87A1E"/>
                </a:solidFill>
                <a:latin typeface="微软雅黑"/>
              </a:rPr>
              <a:t>10  </a:t>
            </a:r>
            <a:r>
              <a:rPr sz="2200" b="1" lang="zh-CN">
                <a:solidFill>
                  <a:srgbClr val="FFFFFF"/>
                </a:solidFill>
                <a:latin typeface="微软雅黑"/>
              </a:rPr>
              <a:t>团队优势与预期成果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555F6D"/>
                </a:solidFill>
                <a:latin typeface="微软雅黑"/>
              </a:rPr>
              <a:t>学校竞赛底蕴 + 真实场景 + 可复制的产品化路径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lang="zh-CN">
                <a:solidFill>
                  <a:srgbClr val="142A4C"/>
                </a:solidFill>
                <a:latin typeface="微软雅黑"/>
              </a:rPr>
              <a:t>团队与资源优势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544824" cy="3657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544824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37943"/>
            <a:ext cx="33253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团队配置（8—9 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441448"/>
            <a:ext cx="3288792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项目负责人 1 人：需求、排期、对外沟通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AI 算法 2 人：数据集、模型训练与部署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后端 2 人：业务服务、设备接入、接口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前端 2 人：管理端、驾驶舱、小程序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测试实施 1 人：测试、联调、部署培训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2064" y="1783080"/>
            <a:ext cx="3544824" cy="3657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2064" y="1783080"/>
            <a:ext cx="3544824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1792" y="1837943"/>
            <a:ext cx="33253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学校既有优势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0080" y="2441448"/>
            <a:ext cx="3288792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计算机类专业为省级特色化专业群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教师团队具备国家级、省级竞赛指导经验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已开设人工智能技术与应用、数据技术应用专业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有移动应用开发、程序设计类赛项办赛与获奖经验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5488" y="1783080"/>
            <a:ext cx="3544824" cy="3657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5488" y="1783080"/>
            <a:ext cx="3544824" cy="502920"/>
          </a:xfrm>
          <a:prstGeom prst="rect">
            <a:avLst/>
          </a:prstGeom>
          <a:solidFill>
            <a:srgbClr val="1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5215" y="1837943"/>
            <a:ext cx="33253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lang="zh-CN">
                <a:solidFill>
                  <a:srgbClr val="FFFFFF"/>
                </a:solidFill>
                <a:latin typeface="微软雅黑"/>
              </a:rPr>
              <a:t>预期成果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3504" y="2441448"/>
            <a:ext cx="3288792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竞赛：完整参赛材料与可演示系统，力争优异成绩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落地：本校正式上线，形成可量化的安全与效率成效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推广：2 所以上同类学校试点并出具成效报告</a:t>
            </a:r>
          </a:p>
          <a:p>
            <a:pPr algn="l">
              <a:lnSpc>
                <a:spcPct val="122000"/>
              </a:lnSpc>
            </a:pPr>
            <a:r>
              <a:rPr sz="1050" b="1" lang="zh-CN">
                <a:solidFill>
                  <a:srgbClr val="E87A1E"/>
                </a:solidFill>
                <a:latin typeface="微软雅黑"/>
              </a:rPr>
              <a:t>▪ </a:t>
            </a:r>
            <a:r>
              <a:rPr sz="1050" b="0" lang="zh-CN">
                <a:solidFill>
                  <a:srgbClr val="333840"/>
                </a:solidFill>
                <a:latin typeface="微软雅黑"/>
              </a:rPr>
              <a:t>沉淀：需求、设计、测试、实施全套标准化文档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669280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zh-CN">
                <a:solidFill>
                  <a:srgbClr val="E87A1E"/>
                </a:solidFill>
                <a:latin typeface="微软雅黑"/>
              </a:rPr>
              <a:t>我们需要学校的支持：</a:t>
            </a:r>
            <a:r>
              <a:rPr sz="1150" b="0" lang="zh-CN">
                <a:solidFill>
                  <a:srgbClr val="FFFFFF"/>
                </a:solidFill>
                <a:latin typeface="微软雅黑"/>
              </a:rPr>
              <a:t>试点区域与设备安装条件 ｜ 学籍/教务/人事数据接口 ｜ 分阶段经费保障 ｜ 业务部门参与验收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999FA8"/>
                </a:solidFill>
                <a:latin typeface="微软雅黑"/>
              </a:rPr>
              <a:t>“智园卫士”智慧校园管理平台 ｜ 齐河县职业中专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lang="zh-CN">
                <a:solidFill>
                  <a:srgbClr val="555F6D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lang="zh-CN">
                <a:solidFill>
                  <a:srgbClr val="FFFFFF"/>
                </a:solidFill>
                <a:latin typeface="微软雅黑"/>
              </a:rPr>
              <a:t>把校园安全与管理，交给数据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lang="zh-CN">
                <a:solidFill>
                  <a:srgbClr val="9EC5E8"/>
                </a:solidFill>
                <a:latin typeface="微软雅黑"/>
              </a:rPr>
              <a:t>“智园卫士”智慧校园管理平台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lang="zh-CN">
                <a:solidFill>
                  <a:srgbClr val="C8D6E5"/>
                </a:solidFill>
                <a:latin typeface="微软雅黑"/>
              </a:rPr>
              <a:t>感谢聆听，敬请各位专家批评指正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lang="zh-CN">
                <a:solidFill>
                  <a:srgbClr val="8A9BB0"/>
                </a:solidFill>
                <a:latin typeface="微软雅黑"/>
              </a:rPr>
              <a:t>齐河县职业中等专业学校 ｜ 项目组 ｜ 2026 年 11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